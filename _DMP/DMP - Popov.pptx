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" r:id="rId6"/>
    <p:sldId id="272" r:id="rId7"/>
    <p:sldId id="275" r:id="rId8"/>
    <p:sldId id="276" r:id="rId9"/>
    <p:sldId id="277" r:id="rId10"/>
    <p:sldId id="278" r:id="rId11"/>
    <p:sldId id="279" r:id="rId12"/>
    <p:sldId id="280" r:id="rId1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A8E208-557C-F57A-5301-920BFAE3F3A5}" name="Jarý Jonáš" initials="" userId="S::jaryjo22@sps-prosek.cz::b668ce8c-92e7-48e3-860a-5e603197fa1b" providerId="AD"/>
  <p188:author id="{FA467F66-442C-3459-D6F1-EDD766091DD1}" name="Houdek Lukáš" initials="" userId="S::houdelu22@sps-prosek.cz::0e1b7949-d421-4f48-816e-58d459a674f9" providerId="AD"/>
  <p188:author id="{03411493-3EE2-5F00-DDD4-7A9216FADEE9}" name="Men Menson" initials="MM" userId="Men Menson" providerId="None"/>
  <p188:author id="{E76C9B99-D619-F193-D874-CF1816FCC5DE}" name="Popov Savva" initials="SP" userId="S::popovsa22@sps-prosek.cz::bc132019-2944-47dc-b2a0-f031fbe56d5e" providerId="AD"/>
  <p188:author id="{B9510DA4-F2D3-D838-C0C7-B988E6B7F557}" name="Šťastný Šimon" initials="ŠŠ" userId="S::stastsi22@sps-prosek.cz::0d580c0e-bdce-44df-a1b5-ba56c3bea503" providerId="AD"/>
  <p188:author id="{F7A91BC9-CFB0-9CEA-5177-2593406F548F}" name="Guest User" initials="GU" userId="S::urn:spo:anon#b28f2418a7b9e0769c21f143175a4e7efe1b58989aad04f9c309cbc5a993dfd1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F3D29FF4-9675-4331-8F08-7DEA826E30A3}"/>
    <pc:docChg chg="undo custSel modSld">
      <pc:chgData name="Popov Savva" userId="bc132019-2944-47dc-b2a0-f031fbe56d5e" providerId="ADAL" clId="{F3D29FF4-9675-4331-8F08-7DEA826E30A3}" dt="2025-11-06T17:40:43.156" v="21" actId="20577"/>
      <pc:docMkLst>
        <pc:docMk/>
      </pc:docMkLst>
      <pc:sldChg chg="modSp mod">
        <pc:chgData name="Popov Savva" userId="bc132019-2944-47dc-b2a0-f031fbe56d5e" providerId="ADAL" clId="{F3D29FF4-9675-4331-8F08-7DEA826E30A3}" dt="2025-11-06T17:40:43.156" v="21" actId="20577"/>
        <pc:sldMkLst>
          <pc:docMk/>
          <pc:sldMk cId="3542898489" sldId="256"/>
        </pc:sldMkLst>
        <pc:spChg chg="mod">
          <ac:chgData name="Popov Savva" userId="bc132019-2944-47dc-b2a0-f031fbe56d5e" providerId="ADAL" clId="{F3D29FF4-9675-4331-8F08-7DEA826E30A3}" dt="2025-11-06T17:40:43.156" v="21" actId="20577"/>
          <ac:spMkLst>
            <pc:docMk/>
            <pc:sldMk cId="3542898489" sldId="256"/>
            <ac:spMk id="2" creationId="{D426D66A-E7B3-7707-405A-C99A947EB22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F74FAA61-2F6A-996C-4641-1176D8D4E8F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B47078D-7706-9477-CD31-55BD5652A4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EB6C1E-E1E7-48B0-BD79-D900DCD06AB0}" type="datetime1">
              <a:rPr lang="cs-CZ" smtClean="0"/>
              <a:t>06.11.2025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9B743CE-C9CE-D98A-7C1F-4066506F32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4D45F3C1-3BB5-3AC8-8133-EC5C8F6A56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547-A317-4D06-B9BE-621DC5AC305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606266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7350A-7B39-4D41-AE17-B2358D9E3021}" type="datetime1">
              <a:rPr lang="cs-CZ" smtClean="0"/>
              <a:t>06.11.2025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202F0-670D-48CF-B515-60DB56D119F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1567384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7DBD1B-C59E-7E48-9F32-E5C7604C63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A8E099A-46F5-970C-C07C-483890F4C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B004939-AF18-BF84-AFF0-FF05DD2FD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19074-33B1-423B-A3F8-1A24CD75E9B5}" type="datetime1">
              <a:rPr lang="cs-CZ" smtClean="0"/>
              <a:t>06.11.2025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70BA97F-D038-8AF8-AF12-A1F9B804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7B87814-6F00-0C1C-FC7B-0BCB9485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1721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E31EDD-4E22-4CCB-C273-A58EF9B1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1C70BDC-8C7E-F470-25B2-762A1A364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60E5E7-D92A-84E7-E780-82E28554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1C9C2-D572-4A47-825B-981B76DD7959}" type="datetime1">
              <a:rPr lang="cs-CZ" smtClean="0"/>
              <a:t>06.11.2025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CE253A4-7685-BBE6-EB40-1B5E0DC0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6632E28-6885-67AB-2300-6876F1093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248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0EBD36-61A9-8CC9-2FEA-6504357F3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F74DE45-D88A-775E-6ECB-5B5611DC5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9F16EAB-33C4-DE10-EA17-ACA3B77CB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031B-F135-40FE-AE0E-98E9A2015287}" type="datetime1">
              <a:rPr lang="cs-CZ" smtClean="0"/>
              <a:t>06.11.2025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34D2E2A-154E-B0D8-128B-5EB547E5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73D7DAB-F8DC-194E-3C6C-55555BDE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5019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1D84C94-2872-7908-0836-613DBDC3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4A754D-7864-6378-CE10-A95CEC40E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0329B18-79B0-B301-60A1-E877B4182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682A2C4-CBC3-4E39-6542-9562C9E2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B8034-007D-4D8D-A888-BA7908E668D3}" type="datetime1">
              <a:rPr lang="cs-CZ" smtClean="0"/>
              <a:t>06.11.2025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72B0AC2-F7EF-DDB0-B8FA-1FE8F1063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27A137A-7412-C81D-6B4B-8F7494FFB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273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C8AE87-2B52-5920-4E18-1953F8D2A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808AB31-37F4-89F6-90AD-EDBC71B43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128693E-B583-D168-CAE9-2874A2A83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537B38EE-F432-D38D-1461-1EE23B1CD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8CA821D4-F45D-D711-8D77-A04B9BA52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4D7BF7F-7765-D9BF-4FF4-F406336D3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A1BCC-8767-48D2-B407-89E8415EDBFC}" type="datetime1">
              <a:rPr lang="cs-CZ" smtClean="0"/>
              <a:t>06.11.2025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20CBA256-84ED-B8C1-B719-3449E31AB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34F7EB6-0F42-2E1B-EAD2-BDFF409F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356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0377D2-EF42-716F-7CCE-E8418022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52646C1-6924-A4F0-21CF-404B883E5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88B60-0EFA-47F0-9D78-8C7CDA0D35D3}" type="datetime1">
              <a:rPr lang="cs-CZ" smtClean="0"/>
              <a:t>06.11.2025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B603A79-75B8-D2C1-0ED0-E23BCEE7E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3957AA9-0935-E9B7-CB4C-E99619E5B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18195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6F4B12A3-4B3E-20C6-F1B0-D15A5287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3DE51-7F87-421C-A517-74E596B18519}" type="datetime1">
              <a:rPr lang="cs-CZ" smtClean="0"/>
              <a:t>06.11.2025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2E5392C-4E30-6910-F654-E60DBEACC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4C0BAD8-4C20-B59D-9850-66DDD5213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64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0562D7-A549-0FED-2876-9D808785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9A0BE5-D8B5-B455-0FDC-35A4EB733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51D73E3-55CC-6E99-43F1-AB88753FE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C862953-26F3-6254-2429-E61702186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D6711-8388-4D3C-A4AA-83DB4F7AAECE}" type="datetime1">
              <a:rPr lang="cs-CZ" smtClean="0"/>
              <a:t>06.11.2025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6741F4D-9CAF-F560-7764-270D1BDF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FD0E73-1218-AD98-062A-E3F1C5B2F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586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290D89-D839-A5B6-209B-464ECAAD1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3A91F69-D89F-0496-FDDC-4D67434BD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779868A-A29D-8270-6E0D-F670893FDD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BE94845-6AEB-4471-E4C8-8F7D34F7B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88510-50E9-43E5-8A29-89279FC1C460}" type="datetime1">
              <a:rPr lang="cs-CZ" smtClean="0"/>
              <a:t>06.11.2025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26B64E-A4E3-2DD3-D4F0-76DE6C59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FFC9E85-7AE4-DCD3-295E-4D14269CA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350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79E1A9-2295-27F6-5EAB-2D298FD64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6C9B1AB-A274-4464-50DD-91C44C00C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E2EF003-2088-24FF-27CA-F030BB2D7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2616E-57A4-4948-AF6A-5E925881119F}" type="datetime1">
              <a:rPr lang="cs-CZ" smtClean="0"/>
              <a:t>06.11.2025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5A743D3-B034-4A9E-E1B9-AAE80A42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BE6E42D-E0BC-6878-668D-022A617E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0414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5C4A66DD-614F-A4B2-EA0D-FFBFEAFE9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D77503E3-E229-74CC-8AFA-D57E46282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96DF2A4-D518-9996-1267-E898720C4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F0164-B0D5-45E0-A667-9B94CF560E0F}" type="datetime1">
              <a:rPr lang="cs-CZ" smtClean="0"/>
              <a:t>06.11.2025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2359AFB-AC5F-60C1-67E5-A5DD58F0A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C05C47-BC9D-5DF3-1DE6-4FD819D83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538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6C76FA2-80DD-9AA2-577D-3154C4013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C10EE325-0200-9A25-B20B-24BA0B8D7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91CB27B-DB56-E94D-71A9-6E6072C7DB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7C216-6CF7-4E68-AFFC-5B76B4DF4B43}" type="datetime1">
              <a:rPr lang="cs-CZ" smtClean="0"/>
              <a:t>06.11.2025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B3EB823-CC43-818E-5E28-E10FB0824B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5F831C3-8F7F-D04C-3AB5-B0173C194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1ED37-EE37-462E-BCA6-D3CBBE39C8C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9252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gif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2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odnadpis 2">
            <a:extLst>
              <a:ext uri="{FF2B5EF4-FFF2-40B4-BE49-F238E27FC236}">
                <a16:creationId xmlns:a16="http://schemas.microsoft.com/office/drawing/2014/main" id="{1DAA93D5-CB62-9A2F-0362-48716EC857F7}"/>
              </a:ext>
            </a:extLst>
          </p:cNvPr>
          <p:cNvSpPr txBox="1">
            <a:spLocks/>
          </p:cNvSpPr>
          <p:nvPr/>
        </p:nvSpPr>
        <p:spPr>
          <a:xfrm>
            <a:off x="4219733" y="4089039"/>
            <a:ext cx="3121152" cy="336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noProof="0" dirty="0">
                <a:latin typeface="Bierstadt Display"/>
              </a:rPr>
              <a:t>Savva Popov</a:t>
            </a:r>
            <a:endParaRPr lang="cs-CZ" noProof="0" dirty="0"/>
          </a:p>
        </p:txBody>
      </p:sp>
      <p:pic>
        <p:nvPicPr>
          <p:cNvPr id="5" name="Obrázek 4" descr="Obsah obrázku text, Písmo, snímek obrazovky, symbol&#10;&#10;Obsah vygenerovaný umělou inteligencí může být nesprávný.">
            <a:extLst>
              <a:ext uri="{FF2B5EF4-FFF2-40B4-BE49-F238E27FC236}">
                <a16:creationId xmlns:a16="http://schemas.microsoft.com/office/drawing/2014/main" id="{DAB4F7AE-6E0E-7D6B-A76E-3A8BBA5CB9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20" y="558799"/>
            <a:ext cx="3416360" cy="432329"/>
          </a:xfrm>
          <a:prstGeom prst="rect">
            <a:avLst/>
          </a:prstGeom>
        </p:spPr>
      </p:pic>
      <p:cxnSp>
        <p:nvCxnSpPr>
          <p:cNvPr id="7" name="Přímá spojnice 6">
            <a:extLst>
              <a:ext uri="{FF2B5EF4-FFF2-40B4-BE49-F238E27FC236}">
                <a16:creationId xmlns:a16="http://schemas.microsoft.com/office/drawing/2014/main" id="{970708DE-F983-561D-9927-6353C199E6B6}"/>
              </a:ext>
            </a:extLst>
          </p:cNvPr>
          <p:cNvCxnSpPr/>
          <p:nvPr/>
        </p:nvCxnSpPr>
        <p:spPr>
          <a:xfrm>
            <a:off x="3841781" y="4473855"/>
            <a:ext cx="3877056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F2F3A7CF-9479-947D-DB23-BFBDC09D8BE8}"/>
              </a:ext>
            </a:extLst>
          </p:cNvPr>
          <p:cNvCxnSpPr/>
          <p:nvPr/>
        </p:nvCxnSpPr>
        <p:spPr>
          <a:xfrm>
            <a:off x="3841780" y="3931311"/>
            <a:ext cx="3877056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620C44FC-C96E-ABFA-6365-2B7D0052B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420" y="6299201"/>
            <a:ext cx="2743200" cy="365125"/>
          </a:xfrm>
        </p:spPr>
        <p:txBody>
          <a:bodyPr/>
          <a:lstStyle/>
          <a:p>
            <a:fld id="{2979CB7F-248F-44F9-B6C1-082FE5C3E239}" type="datetime1">
              <a:rPr lang="cs-CZ" noProof="0" smtClean="0"/>
              <a:t>06.11.2025</a:t>
            </a:fld>
            <a:endParaRPr lang="cs-CZ" noProof="0" dirty="0"/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D426D66A-E7B3-7707-405A-C99A947EB226}"/>
              </a:ext>
            </a:extLst>
          </p:cNvPr>
          <p:cNvSpPr txBox="1"/>
          <p:nvPr/>
        </p:nvSpPr>
        <p:spPr>
          <a:xfrm>
            <a:off x="1684682" y="2675668"/>
            <a:ext cx="88226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600" noProof="0" dirty="0">
                <a:latin typeface="Bahnschrift" panose="020B0502040204020203" pitchFamily="34" charset="0"/>
              </a:rPr>
              <a:t>NÁVRHY DLOUHODOBÉ MATURITNÍ PRÁCE </a:t>
            </a:r>
          </a:p>
        </p:txBody>
      </p:sp>
    </p:spTree>
    <p:extLst>
      <p:ext uri="{BB962C8B-B14F-4D97-AF65-F5344CB8AC3E}">
        <p14:creationId xmlns:p14="http://schemas.microsoft.com/office/powerpoint/2010/main" val="35428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366A44-9749-1002-2728-D0A0A24F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cs-CZ" b="1" noProof="0" dirty="0">
                <a:latin typeface="Bahnschrift" panose="020B0502040204020203" pitchFamily="34" charset="0"/>
              </a:rPr>
              <a:t>SEZNAM NÁVRHŮ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D08291-83F7-14FF-C5BF-AC7AB7DB3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657"/>
            <a:ext cx="10515600" cy="46323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noProof="0" dirty="0">
                <a:latin typeface="Bierstadt" panose="020B0004020202020204" pitchFamily="34" charset="0"/>
              </a:rPr>
              <a:t>FINCA - Flight </a:t>
            </a:r>
            <a:r>
              <a:rPr lang="cs-CZ" sz="2400" noProof="0" dirty="0" err="1">
                <a:latin typeface="Bierstadt" panose="020B0004020202020204" pitchFamily="34" charset="0"/>
              </a:rPr>
              <a:t>Integration</a:t>
            </a:r>
            <a:r>
              <a:rPr lang="cs-CZ" sz="2400" noProof="0" dirty="0">
                <a:latin typeface="Bierstadt" panose="020B0004020202020204" pitchFamily="34" charset="0"/>
              </a:rPr>
              <a:t> and </a:t>
            </a:r>
            <a:r>
              <a:rPr lang="cs-CZ" sz="2400" noProof="0" dirty="0" err="1">
                <a:latin typeface="Bierstadt" panose="020B0004020202020204" pitchFamily="34" charset="0"/>
              </a:rPr>
              <a:t>Navigation</a:t>
            </a:r>
            <a:r>
              <a:rPr lang="cs-CZ" sz="2400" noProof="0" dirty="0">
                <a:latin typeface="Bierstadt" panose="020B0004020202020204" pitchFamily="34" charset="0"/>
              </a:rPr>
              <a:t> Control </a:t>
            </a:r>
            <a:r>
              <a:rPr lang="cs-CZ" sz="2400" noProof="0" dirty="0" err="1">
                <a:latin typeface="Bierstadt" panose="020B0004020202020204" pitchFamily="34" charset="0"/>
              </a:rPr>
              <a:t>Architecture</a:t>
            </a:r>
            <a:endParaRPr lang="cs-CZ" sz="2400" noProof="0" dirty="0">
              <a:latin typeface="Bierstadt" panose="020B00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noProof="0" dirty="0">
                <a:latin typeface="Bierstadt" panose="020B0004020202020204" pitchFamily="34" charset="0"/>
              </a:rPr>
              <a:t>GPS </a:t>
            </a:r>
            <a:r>
              <a:rPr lang="cs-CZ" sz="2400" noProof="0" dirty="0" err="1">
                <a:latin typeface="Bierstadt" panose="020B0004020202020204" pitchFamily="34" charset="0"/>
              </a:rPr>
              <a:t>Tracker</a:t>
            </a:r>
            <a:endParaRPr lang="cs-CZ" sz="2400" noProof="0" dirty="0">
              <a:latin typeface="Bierstadt" panose="020B00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noProof="0" dirty="0" err="1">
                <a:latin typeface="Bierstadt" panose="020B0004020202020204" pitchFamily="34" charset="0"/>
              </a:rPr>
              <a:t>Bearing</a:t>
            </a:r>
            <a:r>
              <a:rPr lang="cs-CZ" sz="2400" noProof="0" dirty="0">
                <a:latin typeface="Bierstadt" panose="020B0004020202020204" pitchFamily="34" charset="0"/>
              </a:rPr>
              <a:t> pointer - </a:t>
            </a:r>
            <a:r>
              <a:rPr lang="cs-CZ" sz="2400" noProof="0" dirty="0" err="1">
                <a:latin typeface="Bierstadt" panose="020B0004020202020204" pitchFamily="34" charset="0"/>
              </a:rPr>
              <a:t>Bound</a:t>
            </a:r>
            <a:r>
              <a:rPr lang="cs-CZ" sz="2400" noProof="0" dirty="0">
                <a:latin typeface="Bierstadt" panose="020B0004020202020204" pitchFamily="34" charset="0"/>
              </a:rPr>
              <a:t> </a:t>
            </a:r>
            <a:r>
              <a:rPr lang="cs-CZ" sz="2400" noProof="0" dirty="0" err="1">
                <a:latin typeface="Bierstadt" panose="020B0004020202020204" pitchFamily="34" charset="0"/>
              </a:rPr>
              <a:t>compasses</a:t>
            </a:r>
            <a:endParaRPr lang="cs-CZ" sz="2400" noProof="0" dirty="0">
              <a:latin typeface="Bierstadt" panose="020B00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noProof="0" dirty="0">
                <a:latin typeface="Bierstadt" panose="020B0004020202020204" pitchFamily="34" charset="0"/>
              </a:rPr>
              <a:t>The </a:t>
            </a:r>
            <a:r>
              <a:rPr lang="cs-CZ" sz="2400" noProof="0" dirty="0" err="1">
                <a:latin typeface="Bierstadt" panose="020B0004020202020204" pitchFamily="34" charset="0"/>
              </a:rPr>
              <a:t>Desire</a:t>
            </a:r>
            <a:r>
              <a:rPr lang="cs-CZ" sz="2400" noProof="0" dirty="0">
                <a:latin typeface="Bierstadt" panose="020B0004020202020204" pitchFamily="34" charset="0"/>
              </a:rPr>
              <a:t> </a:t>
            </a:r>
            <a:r>
              <a:rPr lang="cs-CZ" sz="2400" noProof="0" dirty="0" err="1">
                <a:latin typeface="Bierstadt" panose="020B0004020202020204" pitchFamily="34" charset="0"/>
              </a:rPr>
              <a:t>compass</a:t>
            </a:r>
            <a:endParaRPr lang="cs-CZ" sz="2400" noProof="0" dirty="0">
              <a:latin typeface="Bierstadt" panose="020B00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noProof="0" dirty="0">
                <a:latin typeface="Bierstadt" panose="020B0004020202020204" pitchFamily="34" charset="0"/>
              </a:rPr>
              <a:t>SPGA – </a:t>
            </a:r>
            <a:r>
              <a:rPr lang="cs-CZ" sz="2400" noProof="0" dirty="0" err="1">
                <a:latin typeface="Bierstadt" panose="020B0004020202020204" pitchFamily="34" charset="0"/>
              </a:rPr>
              <a:t>Self</a:t>
            </a:r>
            <a:r>
              <a:rPr lang="cs-CZ" sz="2400" noProof="0" dirty="0">
                <a:latin typeface="Bierstadt" panose="020B0004020202020204" pitchFamily="34" charset="0"/>
              </a:rPr>
              <a:t> </a:t>
            </a:r>
            <a:r>
              <a:rPr lang="cs-CZ" sz="2400" noProof="0" dirty="0" err="1">
                <a:latin typeface="Bierstadt" panose="020B0004020202020204" pitchFamily="34" charset="0"/>
              </a:rPr>
              <a:t>Playing</a:t>
            </a:r>
            <a:r>
              <a:rPr lang="cs-CZ" sz="2400" noProof="0" dirty="0">
                <a:latin typeface="Bierstadt" panose="020B0004020202020204" pitchFamily="34" charset="0"/>
              </a:rPr>
              <a:t> </a:t>
            </a:r>
            <a:r>
              <a:rPr lang="cs-CZ" sz="2400" noProof="0" dirty="0" err="1">
                <a:latin typeface="Bierstadt" panose="020B0004020202020204" pitchFamily="34" charset="0"/>
              </a:rPr>
              <a:t>Guitar</a:t>
            </a:r>
            <a:r>
              <a:rPr lang="cs-CZ" sz="2400" noProof="0" dirty="0">
                <a:latin typeface="Bierstadt" panose="020B0004020202020204" pitchFamily="34" charset="0"/>
              </a:rPr>
              <a:t> and </a:t>
            </a:r>
            <a:r>
              <a:rPr lang="cs-CZ" sz="2400" noProof="0" dirty="0" err="1">
                <a:latin typeface="Bierstadt" panose="020B0004020202020204" pitchFamily="34" charset="0"/>
              </a:rPr>
              <a:t>Amplifier</a:t>
            </a:r>
            <a:endParaRPr lang="cs-CZ" sz="2400" noProof="0" dirty="0">
              <a:latin typeface="Bierstadt" panose="020B00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noProof="0" dirty="0" err="1">
                <a:latin typeface="Bierstadt"/>
              </a:rPr>
              <a:t>Protogen</a:t>
            </a:r>
            <a:r>
              <a:rPr lang="cs-CZ" sz="2400" noProof="0" dirty="0">
                <a:latin typeface="Bierstadt"/>
              </a:rPr>
              <a:t> </a:t>
            </a:r>
            <a:r>
              <a:rPr lang="cs-CZ" sz="2400" noProof="0" dirty="0" err="1">
                <a:latin typeface="Bierstadt"/>
              </a:rPr>
              <a:t>Visor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cs-CZ" sz="2400" noProof="0" dirty="0">
                <a:latin typeface="Bierstadt" panose="020B0004020202020204" pitchFamily="34" charset="0"/>
              </a:rPr>
              <a:t>LIDAR Scanner</a:t>
            </a:r>
          </a:p>
        </p:txBody>
      </p:sp>
    </p:spTree>
    <p:extLst>
      <p:ext uri="{BB962C8B-B14F-4D97-AF65-F5344CB8AC3E}">
        <p14:creationId xmlns:p14="http://schemas.microsoft.com/office/powerpoint/2010/main" val="212268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F4AE-1291-056E-7B9E-DB6785040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C4ECFA-759C-9769-2677-D674FA04D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914" cy="686435"/>
          </a:xfrm>
        </p:spPr>
        <p:txBody>
          <a:bodyPr>
            <a:normAutofit/>
          </a:bodyPr>
          <a:lstStyle/>
          <a:p>
            <a:r>
              <a:rPr lang="cs-CZ" sz="2800" b="1" noProof="0" dirty="0">
                <a:latin typeface="Bahnschrift" panose="020B0502040204020203" pitchFamily="34" charset="0"/>
              </a:rPr>
              <a:t>1. FINCA - Flight </a:t>
            </a:r>
            <a:r>
              <a:rPr lang="cs-CZ" sz="2800" b="1" noProof="0" dirty="0" err="1">
                <a:latin typeface="Bahnschrift" panose="020B0502040204020203" pitchFamily="34" charset="0"/>
              </a:rPr>
              <a:t>Integration</a:t>
            </a:r>
            <a:r>
              <a:rPr lang="cs-CZ" sz="2800" b="1" noProof="0" dirty="0">
                <a:latin typeface="Bahnschrift" panose="020B0502040204020203" pitchFamily="34" charset="0"/>
              </a:rPr>
              <a:t> and </a:t>
            </a:r>
            <a:r>
              <a:rPr lang="cs-CZ" sz="2800" b="1" noProof="0" dirty="0" err="1">
                <a:latin typeface="Bahnschrift" panose="020B0502040204020203" pitchFamily="34" charset="0"/>
              </a:rPr>
              <a:t>Navigation</a:t>
            </a:r>
            <a:r>
              <a:rPr lang="cs-CZ" sz="2800" b="1" noProof="0" dirty="0">
                <a:latin typeface="Bahnschrift" panose="020B0502040204020203" pitchFamily="34" charset="0"/>
              </a:rPr>
              <a:t> Control </a:t>
            </a:r>
            <a:r>
              <a:rPr lang="cs-CZ" sz="2800" b="1" noProof="0" dirty="0" err="1">
                <a:latin typeface="Bahnschrift" panose="020B0502040204020203" pitchFamily="34" charset="0"/>
              </a:rPr>
              <a:t>Architecture</a:t>
            </a:r>
            <a:endParaRPr lang="cs-CZ" sz="2800" b="1" noProof="0" dirty="0">
              <a:latin typeface="Bahnschrift" panose="020B0502040204020203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3708CDB-68CF-757B-E97F-88851C6EE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noProof="0" dirty="0"/>
              <a:t>Flight Control Computer -  letový řídicí počítač (Rozpracovaný návrh)</a:t>
            </a:r>
          </a:p>
          <a:p>
            <a:r>
              <a:rPr lang="cs-CZ" sz="2000" noProof="0" dirty="0"/>
              <a:t>Hlavní funkce: </a:t>
            </a:r>
          </a:p>
          <a:p>
            <a:pPr>
              <a:buFontTx/>
              <a:buChar char="-"/>
            </a:pPr>
            <a:r>
              <a:rPr lang="cs-CZ" sz="2000" noProof="0" dirty="0"/>
              <a:t>Stabilizace letu: Měření dát z gyroskopu, akcelerometru a podle toho upravuje výstupný signál na motorech</a:t>
            </a:r>
          </a:p>
          <a:p>
            <a:pPr>
              <a:buFontTx/>
              <a:buChar char="-"/>
            </a:pPr>
            <a:r>
              <a:rPr lang="cs-CZ" sz="2000" noProof="0" dirty="0"/>
              <a:t>Zpracovaní dat od pilota (</a:t>
            </a:r>
            <a:r>
              <a:rPr lang="cs-CZ" sz="2000" noProof="0" dirty="0" err="1"/>
              <a:t>Remote</a:t>
            </a:r>
            <a:r>
              <a:rPr lang="cs-CZ" sz="2000" noProof="0" dirty="0"/>
              <a:t> control)</a:t>
            </a:r>
          </a:p>
          <a:p>
            <a:pPr>
              <a:buFontTx/>
              <a:buChar char="-"/>
            </a:pPr>
            <a:r>
              <a:rPr lang="cs-CZ" sz="2000" noProof="0" dirty="0"/>
              <a:t>Komunikace s pilotem/</a:t>
            </a:r>
            <a:r>
              <a:rPr lang="cs-CZ" sz="2000" noProof="0" dirty="0" err="1"/>
              <a:t>ground</a:t>
            </a:r>
            <a:r>
              <a:rPr lang="cs-CZ" sz="2000" noProof="0" dirty="0"/>
              <a:t> station, posílání dát zpět – telemetrie</a:t>
            </a:r>
            <a:br>
              <a:rPr lang="cs-CZ" sz="2000" noProof="0" dirty="0"/>
            </a:br>
            <a:endParaRPr lang="cs-CZ" sz="2000" noProof="0" dirty="0"/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06886B04-E271-6E9D-6013-88D1B28B7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742" y="6188075"/>
            <a:ext cx="304800" cy="304800"/>
          </a:xfrm>
          <a:prstGeom prst="rect">
            <a:avLst/>
          </a:prstGeom>
        </p:spPr>
      </p:pic>
      <p:pic>
        <p:nvPicPr>
          <p:cNvPr id="19" name="Obrázek 18">
            <a:extLst>
              <a:ext uri="{FF2B5EF4-FFF2-40B4-BE49-F238E27FC236}">
                <a16:creationId xmlns:a16="http://schemas.microsoft.com/office/drawing/2014/main" id="{A595399A-4512-F819-92F7-E16F8B259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480" y="6188075"/>
            <a:ext cx="304800" cy="304800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BB2592FC-9260-B377-8D5B-78D82322A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8" y="6188075"/>
            <a:ext cx="304800" cy="304800"/>
          </a:xfrm>
          <a:prstGeom prst="rect">
            <a:avLst/>
          </a:prstGeom>
        </p:spPr>
      </p:pic>
      <p:pic>
        <p:nvPicPr>
          <p:cNvPr id="21" name="Obrázek 20">
            <a:extLst>
              <a:ext uri="{FF2B5EF4-FFF2-40B4-BE49-F238E27FC236}">
                <a16:creationId xmlns:a16="http://schemas.microsoft.com/office/drawing/2014/main" id="{6E72B94F-87E0-125A-605F-0B324F86C7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66" y="6188075"/>
            <a:ext cx="304800" cy="304800"/>
          </a:xfrm>
          <a:prstGeom prst="rect">
            <a:avLst/>
          </a:prstGeom>
        </p:spPr>
      </p:pic>
      <p:pic>
        <p:nvPicPr>
          <p:cNvPr id="22" name="Obrázek 21">
            <a:extLst>
              <a:ext uri="{FF2B5EF4-FFF2-40B4-BE49-F238E27FC236}">
                <a16:creationId xmlns:a16="http://schemas.microsoft.com/office/drawing/2014/main" id="{43972471-89AD-9953-053C-3BD08B0D5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04" y="6188075"/>
            <a:ext cx="304800" cy="304800"/>
          </a:xfrm>
          <a:prstGeom prst="rect">
            <a:avLst/>
          </a:prstGeom>
        </p:spPr>
      </p:pic>
      <p:sp>
        <p:nvSpPr>
          <p:cNvPr id="23" name="TextovéPole 22">
            <a:extLst>
              <a:ext uri="{FF2B5EF4-FFF2-40B4-BE49-F238E27FC236}">
                <a16:creationId xmlns:a16="http://schemas.microsoft.com/office/drawing/2014/main" id="{1EEE7146-D156-37A1-E6E8-E79D9EF56EFE}"/>
              </a:ext>
            </a:extLst>
          </p:cNvPr>
          <p:cNvSpPr txBox="1"/>
          <p:nvPr/>
        </p:nvSpPr>
        <p:spPr>
          <a:xfrm>
            <a:off x="838200" y="5744936"/>
            <a:ext cx="213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/>
              <a:t>Obtížnost:</a:t>
            </a:r>
          </a:p>
        </p:txBody>
      </p:sp>
      <p:pic>
        <p:nvPicPr>
          <p:cNvPr id="1026" name="Picture 2" descr="Technotrade Pixhawk 2.4.8 Drone Flight Controller PX4 32 Bit Autopilot Flight  Control Board : Amazon.in: Industrial &amp; Scientific">
            <a:extLst>
              <a:ext uri="{FF2B5EF4-FFF2-40B4-BE49-F238E27FC236}">
                <a16:creationId xmlns:a16="http://schemas.microsoft.com/office/drawing/2014/main" id="{BEF73B50-DE66-6B12-04C4-94B1755CF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479" y="3799530"/>
            <a:ext cx="3175738" cy="2416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eedyBee F405 Mini Flight Controller Stack, 20x20mm, APP Control,  Bluetooth Built-in, 35A 4-in-1 BLHeliS ESC Board, Compatible with DJI Air  Unit FPV ...">
            <a:extLst>
              <a:ext uri="{FF2B5EF4-FFF2-40B4-BE49-F238E27FC236}">
                <a16:creationId xmlns:a16="http://schemas.microsoft.com/office/drawing/2014/main" id="{1C9E750A-73F1-BBD1-CBD8-E157CAA3F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170" y="4171209"/>
            <a:ext cx="1673268" cy="167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he AVA Flight Computer">
            <a:extLst>
              <a:ext uri="{FF2B5EF4-FFF2-40B4-BE49-F238E27FC236}">
                <a16:creationId xmlns:a16="http://schemas.microsoft.com/office/drawing/2014/main" id="{1A06F639-4CBD-79CD-15AF-12A3AECA3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0030" y="4143249"/>
            <a:ext cx="3175738" cy="17863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6895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BB360-B54C-2C09-F072-1225630D4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67B00E-DCBE-0D7B-832F-51F98009E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914" cy="686435"/>
          </a:xfrm>
        </p:spPr>
        <p:txBody>
          <a:bodyPr>
            <a:normAutofit/>
          </a:bodyPr>
          <a:lstStyle/>
          <a:p>
            <a:r>
              <a:rPr lang="cs-CZ" sz="2800" b="1" noProof="0" dirty="0">
                <a:latin typeface="Bahnschrift" panose="020B0502040204020203" pitchFamily="34" charset="0"/>
              </a:rPr>
              <a:t>2. GPS </a:t>
            </a:r>
            <a:r>
              <a:rPr lang="cs-CZ" sz="2800" b="1" noProof="0" dirty="0" err="1">
                <a:latin typeface="Bahnschrift" panose="020B0502040204020203" pitchFamily="34" charset="0"/>
              </a:rPr>
              <a:t>Tracker</a:t>
            </a:r>
            <a:endParaRPr lang="cs-CZ" sz="2800" b="1" noProof="0" dirty="0">
              <a:latin typeface="Bahnschrift" panose="020B0502040204020203" pitchFamily="34" charset="0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A01098-AFCF-A4F2-2C4E-FA9486C9E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noProof="0" dirty="0"/>
              <a:t>GPS Mapový sledovač</a:t>
            </a:r>
          </a:p>
          <a:p>
            <a:r>
              <a:rPr lang="cs-CZ" sz="2000" noProof="0" dirty="0"/>
              <a:t>Hlavní funkce: </a:t>
            </a:r>
          </a:p>
          <a:p>
            <a:pPr>
              <a:buFontTx/>
              <a:buChar char="-"/>
            </a:pPr>
            <a:r>
              <a:rPr lang="cs-CZ" sz="2000" noProof="0" dirty="0"/>
              <a:t>Živy output dát, zobrazení aktuální polohy na mapě</a:t>
            </a:r>
          </a:p>
          <a:p>
            <a:pPr>
              <a:buFontTx/>
              <a:buChar char="-"/>
            </a:pPr>
            <a:r>
              <a:rPr lang="cs-CZ" sz="2000" noProof="0" dirty="0" err="1"/>
              <a:t>Low</a:t>
            </a:r>
            <a:r>
              <a:rPr lang="cs-CZ" sz="2000" noProof="0" dirty="0"/>
              <a:t> </a:t>
            </a:r>
            <a:r>
              <a:rPr lang="cs-CZ" sz="2000" noProof="0" dirty="0" err="1"/>
              <a:t>power</a:t>
            </a:r>
            <a:r>
              <a:rPr lang="cs-CZ" sz="2000" noProof="0" dirty="0"/>
              <a:t> (vysoka výdržnost baterie)</a:t>
            </a:r>
          </a:p>
          <a:p>
            <a:pPr>
              <a:buFontTx/>
              <a:buChar char="-"/>
            </a:pPr>
            <a:r>
              <a:rPr lang="cs-CZ" sz="2000" noProof="0" dirty="0"/>
              <a:t>Voděodolnost a robustní krytí pro použiti ve venkovním prostředí</a:t>
            </a:r>
          </a:p>
          <a:p>
            <a:pPr>
              <a:buFontTx/>
              <a:buChar char="-"/>
            </a:pPr>
            <a:r>
              <a:rPr lang="cs-CZ" sz="2000" noProof="0" dirty="0"/>
              <a:t>Další </a:t>
            </a:r>
            <a:r>
              <a:rPr lang="cs-CZ" sz="2000" dirty="0"/>
              <a:t>možné </a:t>
            </a:r>
            <a:r>
              <a:rPr lang="cs-CZ" sz="2000" noProof="0" dirty="0"/>
              <a:t>funkce: Notifikace při opuštění oblasti, záznam trasy pohybu</a:t>
            </a:r>
            <a:endParaRPr lang="cs-CZ" dirty="0"/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72F21FEA-7BA6-20A1-261E-F026F1418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742" y="6188075"/>
            <a:ext cx="304800" cy="304800"/>
          </a:xfrm>
          <a:prstGeom prst="rect">
            <a:avLst/>
          </a:prstGeom>
        </p:spPr>
      </p:pic>
      <p:pic>
        <p:nvPicPr>
          <p:cNvPr id="19" name="Obrázek 18">
            <a:extLst>
              <a:ext uri="{FF2B5EF4-FFF2-40B4-BE49-F238E27FC236}">
                <a16:creationId xmlns:a16="http://schemas.microsoft.com/office/drawing/2014/main" id="{225B8A5A-6DB8-43E0-3F58-EC6C2F9B4C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480" y="6188075"/>
            <a:ext cx="304800" cy="304800"/>
          </a:xfrm>
          <a:prstGeom prst="rect">
            <a:avLst/>
          </a:prstGeom>
        </p:spPr>
      </p:pic>
      <p:pic>
        <p:nvPicPr>
          <p:cNvPr id="20" name="Obrázek 19">
            <a:extLst>
              <a:ext uri="{FF2B5EF4-FFF2-40B4-BE49-F238E27FC236}">
                <a16:creationId xmlns:a16="http://schemas.microsoft.com/office/drawing/2014/main" id="{A1DD32D6-4EBB-6B4D-00D8-71499B9122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8" y="6188075"/>
            <a:ext cx="304800" cy="304800"/>
          </a:xfrm>
          <a:prstGeom prst="rect">
            <a:avLst/>
          </a:prstGeom>
        </p:spPr>
      </p:pic>
      <p:sp>
        <p:nvSpPr>
          <p:cNvPr id="23" name="TextovéPole 22">
            <a:extLst>
              <a:ext uri="{FF2B5EF4-FFF2-40B4-BE49-F238E27FC236}">
                <a16:creationId xmlns:a16="http://schemas.microsoft.com/office/drawing/2014/main" id="{1E40A35E-91F8-735A-B792-CFEECEA25A48}"/>
              </a:ext>
            </a:extLst>
          </p:cNvPr>
          <p:cNvSpPr txBox="1"/>
          <p:nvPr/>
        </p:nvSpPr>
        <p:spPr>
          <a:xfrm>
            <a:off x="838200" y="5744936"/>
            <a:ext cx="213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/>
              <a:t>Obtížnost:</a:t>
            </a:r>
          </a:p>
        </p:txBody>
      </p:sp>
      <p:pic>
        <p:nvPicPr>
          <p:cNvPr id="3074" name="Picture 2" descr="Tiny GPS Tracker : 8 Steps - Instructables">
            <a:extLst>
              <a:ext uri="{FF2B5EF4-FFF2-40B4-BE49-F238E27FC236}">
                <a16:creationId xmlns:a16="http://schemas.microsoft.com/office/drawing/2014/main" id="{ABD1DEB8-CCED-D129-F38D-91EE1CA16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058" y="3968075"/>
            <a:ext cx="2498865" cy="20835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76" name="Picture 4" descr="Mini locator gps tracker eavesdropping hidden sim | CATEGORIES \ Automotive  \ Others | verk.store">
            <a:extLst>
              <a:ext uri="{FF2B5EF4-FFF2-40B4-BE49-F238E27FC236}">
                <a16:creationId xmlns:a16="http://schemas.microsoft.com/office/drawing/2014/main" id="{6B0154C9-A5A8-7B66-10DC-C29D766AB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717" y="4023225"/>
            <a:ext cx="2028444" cy="2028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GPS Tracker S02 Black - sledovací zařízení mobilní | VARNET">
            <a:extLst>
              <a:ext uri="{FF2B5EF4-FFF2-40B4-BE49-F238E27FC236}">
                <a16:creationId xmlns:a16="http://schemas.microsoft.com/office/drawing/2014/main" id="{A5C61489-672C-CBBC-CA4E-2262A4CC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353" y="4030548"/>
            <a:ext cx="1499590" cy="195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2FED0D41-2214-DCC5-91E0-267CDB8E1D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66" y="6188075"/>
            <a:ext cx="304800" cy="304800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61CD71AF-DDA4-A346-5DA8-862270F15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04" y="618807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50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057E-1FB4-8A68-EFE7-EF8E58D2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240F0B-D36B-FA59-C81F-D474C6DF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914" cy="686435"/>
          </a:xfrm>
        </p:spPr>
        <p:txBody>
          <a:bodyPr>
            <a:normAutofit/>
          </a:bodyPr>
          <a:lstStyle/>
          <a:p>
            <a:r>
              <a:rPr lang="cs-CZ" sz="2800" b="1" dirty="0">
                <a:latin typeface="Bahnschrift"/>
              </a:rPr>
              <a:t>3</a:t>
            </a:r>
            <a:r>
              <a:rPr lang="cs-CZ" sz="2800" b="1" noProof="0" dirty="0">
                <a:latin typeface="Bahnschrift"/>
              </a:rPr>
              <a:t>. </a:t>
            </a:r>
            <a:r>
              <a:rPr lang="cs-CZ" sz="2800" b="1" noProof="0" dirty="0" err="1">
                <a:latin typeface="Bahnschrift"/>
              </a:rPr>
              <a:t>Bearing</a:t>
            </a:r>
            <a:r>
              <a:rPr lang="cs-CZ" sz="2800" b="1" noProof="0" dirty="0">
                <a:latin typeface="Bahnschrift"/>
              </a:rPr>
              <a:t> pointer – </a:t>
            </a:r>
            <a:r>
              <a:rPr lang="cs-CZ" sz="2800" b="1" noProof="0" dirty="0" err="1">
                <a:latin typeface="Bahnschrift"/>
              </a:rPr>
              <a:t>Bound</a:t>
            </a:r>
            <a:r>
              <a:rPr lang="cs-CZ" sz="2800" b="1" noProof="0" dirty="0">
                <a:latin typeface="Bahnschrift"/>
              </a:rPr>
              <a:t> </a:t>
            </a:r>
            <a:r>
              <a:rPr lang="cs-CZ" sz="2800" b="1" noProof="0" dirty="0" err="1">
                <a:latin typeface="Bahnschrift"/>
              </a:rPr>
              <a:t>compasses</a:t>
            </a:r>
            <a:endParaRPr lang="cs-CZ" sz="2800" b="1" noProof="0" dirty="0">
              <a:latin typeface="Bahnschrif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367D449-F687-BC6A-4B8D-5B1CD7AD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noProof="0" dirty="0"/>
              <a:t>Dvojice kompasu s GPS, které ukazují směr k sobě navzájem.</a:t>
            </a:r>
          </a:p>
          <a:p>
            <a:r>
              <a:rPr lang="cs-CZ" sz="2000" noProof="0" dirty="0"/>
              <a:t>Hlavní funkce: </a:t>
            </a:r>
          </a:p>
          <a:p>
            <a:pPr>
              <a:buFontTx/>
              <a:buChar char="-"/>
            </a:pPr>
            <a:r>
              <a:rPr lang="cs-CZ" sz="2000" noProof="0" dirty="0" err="1"/>
              <a:t>Low</a:t>
            </a:r>
            <a:r>
              <a:rPr lang="cs-CZ" sz="2000" noProof="0" dirty="0"/>
              <a:t> </a:t>
            </a:r>
            <a:r>
              <a:rPr lang="cs-CZ" sz="2000" noProof="0" dirty="0" err="1"/>
              <a:t>power</a:t>
            </a:r>
            <a:r>
              <a:rPr lang="cs-CZ" sz="2000" noProof="0" dirty="0"/>
              <a:t> </a:t>
            </a:r>
          </a:p>
          <a:p>
            <a:pPr>
              <a:buFontTx/>
              <a:buChar char="-"/>
            </a:pPr>
            <a:r>
              <a:rPr lang="cs-CZ" sz="2000" noProof="0" dirty="0"/>
              <a:t>Směrová navigace mezi dvěma body - GPS</a:t>
            </a:r>
          </a:p>
          <a:p>
            <a:pPr>
              <a:buFontTx/>
              <a:buChar char="-"/>
            </a:pPr>
            <a:r>
              <a:rPr lang="cs-CZ" sz="2000" noProof="0" dirty="0"/>
              <a:t>Možnosti komunikace: </a:t>
            </a:r>
            <a:r>
              <a:rPr lang="cs-CZ" sz="2000" noProof="0" dirty="0" err="1"/>
              <a:t>Cellular</a:t>
            </a:r>
            <a:r>
              <a:rPr lang="cs-CZ" sz="2000" noProof="0" dirty="0"/>
              <a:t>, Long-</a:t>
            </a:r>
            <a:r>
              <a:rPr lang="cs-CZ" sz="2000" noProof="0" dirty="0" err="1"/>
              <a:t>Range</a:t>
            </a:r>
            <a:r>
              <a:rPr lang="cs-CZ" sz="2000" noProof="0" dirty="0"/>
              <a:t> </a:t>
            </a:r>
            <a:r>
              <a:rPr lang="cs-CZ" sz="2000" noProof="0" dirty="0" err="1"/>
              <a:t>Radio</a:t>
            </a:r>
            <a:r>
              <a:rPr lang="cs-CZ" sz="2000" noProof="0" dirty="0"/>
              <a:t>, Internet </a:t>
            </a:r>
            <a:r>
              <a:rPr lang="cs-CZ" sz="2000" noProof="0" dirty="0" err="1"/>
              <a:t>connection</a:t>
            </a:r>
            <a:endParaRPr lang="cs-CZ" sz="2000" noProof="0" dirty="0"/>
          </a:p>
          <a:p>
            <a:pPr marL="0" indent="0">
              <a:buNone/>
            </a:pPr>
            <a:endParaRPr lang="cs-CZ" sz="2000" noProof="0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19234EF4-64F7-610E-93D5-D71AEE185007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5AE308A7-69A2-1BBF-71AD-D7C304AC62B5}"/>
              </a:ext>
            </a:extLst>
          </p:cNvPr>
          <p:cNvSpPr txBox="1"/>
          <p:nvPr/>
        </p:nvSpPr>
        <p:spPr>
          <a:xfrm>
            <a:off x="838200" y="5744936"/>
            <a:ext cx="213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/>
              <a:t>Obtížnost: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25A1356-92A0-0952-EEF5-704110FF72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742" y="6188075"/>
            <a:ext cx="304800" cy="304800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B0D95350-975D-059D-4362-5AEBC6C055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480" y="6188075"/>
            <a:ext cx="304800" cy="304800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5915974E-19FF-9202-19E6-5287AC15B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8" y="6188075"/>
            <a:ext cx="304800" cy="3048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BC196F73-82F1-8D97-1C95-399EC99D51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04" y="6188075"/>
            <a:ext cx="304800" cy="3048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A5BFC571-B370-4E94-CAE9-B290F8AA6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66" y="6188075"/>
            <a:ext cx="304800" cy="30480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1256EEA-3DBE-3CFE-4760-C60578252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028" y="3709947"/>
            <a:ext cx="2959540" cy="22196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30" name="Picture 6" descr="G5 User Guide (Archive) – AFM Simulation">
            <a:extLst>
              <a:ext uri="{FF2B5EF4-FFF2-40B4-BE49-F238E27FC236}">
                <a16:creationId xmlns:a16="http://schemas.microsoft.com/office/drawing/2014/main" id="{17146A75-385A-66D7-4A0B-247688B1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448" y="3709947"/>
            <a:ext cx="2959540" cy="22196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93891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F6303-8ED8-05E3-B697-629341847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052AB1-D3BC-50D2-347E-67F3D010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914" cy="686435"/>
          </a:xfrm>
        </p:spPr>
        <p:txBody>
          <a:bodyPr>
            <a:normAutofit/>
          </a:bodyPr>
          <a:lstStyle/>
          <a:p>
            <a:r>
              <a:rPr lang="cs-CZ" sz="2800" b="1" dirty="0">
                <a:latin typeface="Bahnschrift"/>
              </a:rPr>
              <a:t>4</a:t>
            </a:r>
            <a:r>
              <a:rPr lang="cs-CZ" sz="2800" b="1" noProof="0" dirty="0">
                <a:latin typeface="Bahnschrift"/>
              </a:rPr>
              <a:t>. Pivní kompas - </a:t>
            </a:r>
            <a:r>
              <a:rPr lang="cs-CZ" sz="2800" b="1" noProof="0" dirty="0" err="1">
                <a:latin typeface="Bahnschrift"/>
              </a:rPr>
              <a:t>Desire</a:t>
            </a:r>
            <a:r>
              <a:rPr lang="cs-CZ" sz="2800" b="1" noProof="0" dirty="0">
                <a:latin typeface="Bahnschrift"/>
              </a:rPr>
              <a:t> </a:t>
            </a:r>
            <a:r>
              <a:rPr lang="cs-CZ" sz="2800" b="1" noProof="0" dirty="0" err="1">
                <a:latin typeface="Bahnschrift"/>
              </a:rPr>
              <a:t>Compass</a:t>
            </a:r>
            <a:endParaRPr lang="cs-CZ" sz="2800" b="1" noProof="0" dirty="0">
              <a:latin typeface="Bahnschrif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5382F37-9169-CCFD-89BB-2766C4C2B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noProof="0" dirty="0"/>
              <a:t>Kompas který ukazuje na to co chcete nejvíc</a:t>
            </a:r>
          </a:p>
          <a:p>
            <a:r>
              <a:rPr lang="cs-CZ" sz="2000" noProof="0" dirty="0"/>
              <a:t>Hlavní funkce: </a:t>
            </a:r>
          </a:p>
          <a:p>
            <a:pPr>
              <a:buFontTx/>
              <a:buChar char="-"/>
            </a:pPr>
            <a:r>
              <a:rPr lang="cs-CZ" sz="2000" noProof="0" dirty="0" err="1"/>
              <a:t>Low</a:t>
            </a:r>
            <a:r>
              <a:rPr lang="cs-CZ" sz="2000" noProof="0" dirty="0"/>
              <a:t> </a:t>
            </a:r>
            <a:r>
              <a:rPr lang="cs-CZ" sz="2000" noProof="0" dirty="0" err="1"/>
              <a:t>power</a:t>
            </a:r>
            <a:r>
              <a:rPr lang="cs-CZ" sz="2000" noProof="0" dirty="0"/>
              <a:t> </a:t>
            </a:r>
          </a:p>
          <a:p>
            <a:pPr>
              <a:buFontTx/>
              <a:buChar char="-"/>
            </a:pPr>
            <a:r>
              <a:rPr lang="cs-CZ" sz="2000" dirty="0"/>
              <a:t>GPS navigace</a:t>
            </a:r>
          </a:p>
          <a:p>
            <a:pPr>
              <a:buFontTx/>
              <a:buChar char="-"/>
            </a:pPr>
            <a:r>
              <a:rPr lang="cs-CZ" sz="2000" noProof="0" dirty="0"/>
              <a:t>Robustní konstrukce pro </a:t>
            </a:r>
            <a:r>
              <a:rPr lang="cs-CZ" sz="2000" dirty="0"/>
              <a:t>venkovní použiti</a:t>
            </a:r>
            <a:endParaRPr lang="cs-CZ" sz="2000" noProof="0" dirty="0"/>
          </a:p>
          <a:p>
            <a:pPr>
              <a:buFontTx/>
              <a:buChar char="-"/>
            </a:pPr>
            <a:r>
              <a:rPr lang="cs-CZ" sz="2000" noProof="0" dirty="0"/>
              <a:t>Možnost přidáni databází „bodů“ např: </a:t>
            </a:r>
            <a:r>
              <a:rPr lang="cs-CZ" sz="2000" b="1" noProof="0" dirty="0"/>
              <a:t>Pražské hospody</a:t>
            </a:r>
          </a:p>
          <a:p>
            <a:pPr>
              <a:buFontTx/>
              <a:buChar char="-"/>
            </a:pPr>
            <a:r>
              <a:rPr lang="cs-CZ" sz="2000" noProof="0" dirty="0"/>
              <a:t>Vedlejší </a:t>
            </a:r>
            <a:r>
              <a:rPr lang="cs-CZ" sz="2000" dirty="0"/>
              <a:t>funkce: možnost mít propojeni s API online map – živé aktualizovaní a zadávání bodů</a:t>
            </a:r>
          </a:p>
          <a:p>
            <a:pPr>
              <a:buFontTx/>
              <a:buChar char="-"/>
            </a:pPr>
            <a:endParaRPr lang="cs-CZ" sz="2000" noProof="0" dirty="0"/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3D91ADAC-8902-4AC1-75F2-F950659EDE2C}"/>
              </a:ext>
            </a:extLst>
          </p:cNvPr>
          <p:cNvSpPr txBox="1"/>
          <p:nvPr/>
        </p:nvSpPr>
        <p:spPr>
          <a:xfrm>
            <a:off x="838200" y="5744936"/>
            <a:ext cx="213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/>
              <a:t>Obtížnost: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02B0B47-A40E-66DD-4A0B-C08DC3588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660" y="6181373"/>
            <a:ext cx="387096" cy="3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0704BB3D-B804-1F38-BE88-B9584E250E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4538" y="6163720"/>
            <a:ext cx="387096" cy="3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BE9A5EBD-DEE3-454E-D668-654A4D780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974" y="6163720"/>
            <a:ext cx="387096" cy="3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A0FAE40A-AC6D-CE6A-AAEB-E57CF6F9D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9756" y="6181373"/>
            <a:ext cx="387096" cy="3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>
            <a:extLst>
              <a:ext uri="{FF2B5EF4-FFF2-40B4-BE49-F238E27FC236}">
                <a16:creationId xmlns:a16="http://schemas.microsoft.com/office/drawing/2014/main" id="{37C8D770-F980-5CDC-7901-EFC05C1B1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174" y="6181373"/>
            <a:ext cx="387096" cy="387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Jack Sparrow's compass | Pirates of the Caribbean Wiki | Fandom">
            <a:extLst>
              <a:ext uri="{FF2B5EF4-FFF2-40B4-BE49-F238E27FC236}">
                <a16:creationId xmlns:a16="http://schemas.microsoft.com/office/drawing/2014/main" id="{87308469-8482-0C47-EC69-83BFFA859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682" y="4496403"/>
            <a:ext cx="2170236" cy="1627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With beer compass character cartoon style Vector Image">
            <a:extLst>
              <a:ext uri="{FF2B5EF4-FFF2-40B4-BE49-F238E27FC236}">
                <a16:creationId xmlns:a16="http://schemas.microsoft.com/office/drawing/2014/main" id="{5C4CAAB6-9E06-D973-0743-7750D4534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0067" y="4019359"/>
            <a:ext cx="1771650" cy="216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566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CAC51-2850-536E-DAE5-4A370777F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818404-4590-4FD3-880F-C5401D48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914" cy="686435"/>
          </a:xfrm>
        </p:spPr>
        <p:txBody>
          <a:bodyPr>
            <a:normAutofit/>
          </a:bodyPr>
          <a:lstStyle/>
          <a:p>
            <a:r>
              <a:rPr lang="cs-CZ" sz="2800" b="1" dirty="0">
                <a:latin typeface="Bahnschrift"/>
              </a:rPr>
              <a:t>5</a:t>
            </a:r>
            <a:r>
              <a:rPr lang="cs-CZ" sz="2800" b="1" noProof="0" dirty="0">
                <a:latin typeface="Bahnschrift"/>
              </a:rPr>
              <a:t>. SPGA / SPG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0AE279-6218-46D8-5A6B-E7BF04977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noProof="0" dirty="0"/>
              <a:t>Samo hrající kytara (rozpracovaný návrh)</a:t>
            </a:r>
          </a:p>
          <a:p>
            <a:r>
              <a:rPr lang="cs-CZ" sz="2000" noProof="0" dirty="0"/>
              <a:t>Hlavní funkce: </a:t>
            </a:r>
          </a:p>
          <a:p>
            <a:pPr>
              <a:buFontTx/>
              <a:buChar char="-"/>
            </a:pPr>
            <a:r>
              <a:rPr lang="cs-CZ" sz="2000" noProof="0" dirty="0"/>
              <a:t>Ovládání 18ti pražců a 6ti strun</a:t>
            </a:r>
          </a:p>
          <a:p>
            <a:pPr>
              <a:buFontTx/>
              <a:buChar char="-"/>
            </a:pPr>
            <a:r>
              <a:rPr lang="cs-CZ" sz="2000" noProof="0" dirty="0"/>
              <a:t>Přehrávaní MIDI souborů</a:t>
            </a:r>
          </a:p>
          <a:p>
            <a:pPr>
              <a:buFontTx/>
              <a:buChar char="-"/>
            </a:pPr>
            <a:r>
              <a:rPr lang="cs-CZ" sz="2000" dirty="0"/>
              <a:t>Pražce: solenoidy, struny: </a:t>
            </a:r>
            <a:r>
              <a:rPr lang="cs-CZ" sz="2000" dirty="0" err="1"/>
              <a:t>servo</a:t>
            </a:r>
            <a:r>
              <a:rPr lang="cs-CZ" sz="2000" dirty="0"/>
              <a:t>-motory</a:t>
            </a:r>
          </a:p>
          <a:p>
            <a:pPr>
              <a:buFontTx/>
              <a:buChar char="-"/>
            </a:pPr>
            <a:r>
              <a:rPr lang="cs-CZ" sz="2000" noProof="0" dirty="0"/>
              <a:t>Zesilovač je vedlejší funkce která se může nacházet v stejné krabičce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DDCC04E6-B710-38BC-7202-B32584362C64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C933C3C0-6294-60D5-677B-A863445E0A5F}"/>
              </a:ext>
            </a:extLst>
          </p:cNvPr>
          <p:cNvSpPr txBox="1"/>
          <p:nvPr/>
        </p:nvSpPr>
        <p:spPr>
          <a:xfrm>
            <a:off x="838200" y="5744936"/>
            <a:ext cx="213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/>
              <a:t>Obtížnost: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F649E8A-FEDD-C718-B783-FD0203650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742" y="6188075"/>
            <a:ext cx="304800" cy="304800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3FB53BD6-FD33-B0CB-A952-BDA897057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480" y="6188075"/>
            <a:ext cx="304800" cy="304800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4685CD0F-2A4E-AB9C-DCE8-6E3A6493F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8" y="6188075"/>
            <a:ext cx="304800" cy="304800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B20A46D1-FFC1-A94B-2CE6-06519E0F6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66" y="6188075"/>
            <a:ext cx="304800" cy="304800"/>
          </a:xfrm>
          <a:prstGeom prst="rect">
            <a:avLst/>
          </a:prstGeom>
        </p:spPr>
      </p:pic>
      <p:pic>
        <p:nvPicPr>
          <p:cNvPr id="4098" name="Picture 2" descr="An Incredible Acoustic Guitar Self-Playing Robot">
            <a:extLst>
              <a:ext uri="{FF2B5EF4-FFF2-40B4-BE49-F238E27FC236}">
                <a16:creationId xmlns:a16="http://schemas.microsoft.com/office/drawing/2014/main" id="{3B431D73-6068-1BC7-70DD-6D3BF35A9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604" y="4177237"/>
            <a:ext cx="3765593" cy="21181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This Self-playing Guitar Proves Robots Will Never Replace Human Musicians">
            <a:extLst>
              <a:ext uri="{FF2B5EF4-FFF2-40B4-BE49-F238E27FC236}">
                <a16:creationId xmlns:a16="http://schemas.microsoft.com/office/drawing/2014/main" id="{7ADD3C71-706D-6664-7621-21021F6A20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>
            <a:fillRect/>
          </a:stretch>
        </p:blipFill>
        <p:spPr bwMode="auto">
          <a:xfrm>
            <a:off x="9067569" y="1844475"/>
            <a:ext cx="2670545" cy="4450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A0768397-644B-A08F-45C3-A64E2EC7B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04" y="6188075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33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B830B-499E-A0FB-5BD1-92D26D463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293D57-D787-B169-93DA-8802F1503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914" cy="686435"/>
          </a:xfrm>
        </p:spPr>
        <p:txBody>
          <a:bodyPr>
            <a:normAutofit/>
          </a:bodyPr>
          <a:lstStyle/>
          <a:p>
            <a:r>
              <a:rPr lang="cs-CZ" sz="2800" b="1" dirty="0">
                <a:latin typeface="Bahnschrift"/>
              </a:rPr>
              <a:t>6</a:t>
            </a:r>
            <a:r>
              <a:rPr lang="cs-CZ" sz="2800" b="1" noProof="0" dirty="0">
                <a:latin typeface="Bahnschrift"/>
              </a:rPr>
              <a:t>. </a:t>
            </a:r>
            <a:r>
              <a:rPr lang="cs-CZ" sz="2800" b="1" noProof="0" dirty="0" err="1">
                <a:latin typeface="Bahnschrift"/>
              </a:rPr>
              <a:t>Protogen</a:t>
            </a:r>
            <a:r>
              <a:rPr lang="cs-CZ" sz="2800" b="1" noProof="0" dirty="0">
                <a:latin typeface="Bahnschrift"/>
              </a:rPr>
              <a:t> </a:t>
            </a:r>
            <a:r>
              <a:rPr lang="cs-CZ" sz="2800" b="1" noProof="0" dirty="0" err="1">
                <a:latin typeface="Bahnschrift"/>
              </a:rPr>
              <a:t>visor</a:t>
            </a:r>
            <a:endParaRPr lang="cs-CZ" sz="2800" b="1" noProof="0" dirty="0">
              <a:latin typeface="Bahnschrif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A97F5A-8A16-03AB-A515-16BE4F72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/>
              <a:t>Dekorativní </a:t>
            </a:r>
            <a:r>
              <a:rPr lang="cs-CZ" sz="2000" dirty="0" err="1"/>
              <a:t>visor</a:t>
            </a:r>
            <a:r>
              <a:rPr lang="cs-CZ" sz="2000" dirty="0"/>
              <a:t> pro </a:t>
            </a:r>
            <a:r>
              <a:rPr lang="cs-CZ" sz="2000" dirty="0" err="1"/>
              <a:t>cosplay</a:t>
            </a:r>
            <a:endParaRPr lang="cs-CZ" sz="2000" noProof="0" dirty="0"/>
          </a:p>
          <a:p>
            <a:r>
              <a:rPr lang="cs-CZ" sz="2000" noProof="0" dirty="0"/>
              <a:t>Hlavní funkce: </a:t>
            </a:r>
          </a:p>
          <a:p>
            <a:pPr>
              <a:buFontTx/>
              <a:buChar char="-"/>
            </a:pPr>
            <a:r>
              <a:rPr lang="cs-CZ" sz="2000" dirty="0"/>
              <a:t>Ovládaní několika RGB displejů</a:t>
            </a:r>
          </a:p>
          <a:p>
            <a:pPr>
              <a:buFontTx/>
              <a:buChar char="-"/>
            </a:pPr>
            <a:r>
              <a:rPr lang="cs-CZ" sz="2000" dirty="0"/>
              <a:t>Konstrukce s poloviční průhlednosti</a:t>
            </a:r>
          </a:p>
          <a:p>
            <a:pPr>
              <a:buFontTx/>
              <a:buChar char="-"/>
            </a:pPr>
            <a:r>
              <a:rPr lang="cs-CZ" sz="2000" noProof="0" dirty="0"/>
              <a:t>Vnitřní </a:t>
            </a:r>
            <a:r>
              <a:rPr lang="cs-CZ" sz="2000" dirty="0"/>
              <a:t>větrání</a:t>
            </a:r>
          </a:p>
          <a:p>
            <a:pPr>
              <a:buFontTx/>
              <a:buChar char="-"/>
            </a:pPr>
            <a:r>
              <a:rPr lang="cs-CZ" sz="2000" dirty="0"/>
              <a:t>Estetika je důležitým faktorem</a:t>
            </a:r>
            <a:endParaRPr lang="cs-CZ" sz="2000" noProof="0" dirty="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2D6BEFF-D6A6-1FD1-8C77-E8F8F2A74864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3E814662-8E3E-2004-7146-CBD63028D818}"/>
              </a:ext>
            </a:extLst>
          </p:cNvPr>
          <p:cNvSpPr txBox="1"/>
          <p:nvPr/>
        </p:nvSpPr>
        <p:spPr>
          <a:xfrm>
            <a:off x="838200" y="5744936"/>
            <a:ext cx="213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/>
              <a:t>Obtížnost:</a:t>
            </a:r>
          </a:p>
        </p:txBody>
      </p:sp>
      <p:pic>
        <p:nvPicPr>
          <p:cNvPr id="5122" name="Picture 2" descr="protogen fursuit visor - Hi Tech Services">
            <a:extLst>
              <a:ext uri="{FF2B5EF4-FFF2-40B4-BE49-F238E27FC236}">
                <a16:creationId xmlns:a16="http://schemas.microsoft.com/office/drawing/2014/main" id="{F5C8AFE1-B78F-0BCE-11C7-D66D15936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4986" y="3701678"/>
            <a:ext cx="4305300" cy="28673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124" name="Picture 4" descr="Image">
            <a:extLst>
              <a:ext uri="{FF2B5EF4-FFF2-40B4-BE49-F238E27FC236}">
                <a16:creationId xmlns:a16="http://schemas.microsoft.com/office/drawing/2014/main" id="{DE03065E-A25F-4E1F-A287-A185DA1C2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2169" y="451744"/>
            <a:ext cx="1910934" cy="28673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Obrázek 12" descr="Obsah obrázku pixel, snímek obrazovky, Grafika&#10;&#10;Obsah generovaný pomocí AI může být nesprávný.">
            <a:extLst>
              <a:ext uri="{FF2B5EF4-FFF2-40B4-BE49-F238E27FC236}">
                <a16:creationId xmlns:a16="http://schemas.microsoft.com/office/drawing/2014/main" id="{A18D0031-E587-E04A-1712-AA881B3BA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58" r="16388" b="7126"/>
          <a:stretch>
            <a:fillRect/>
          </a:stretch>
        </p:blipFill>
        <p:spPr>
          <a:xfrm>
            <a:off x="949139" y="6160753"/>
            <a:ext cx="327211" cy="264287"/>
          </a:xfrm>
          <a:prstGeom prst="rect">
            <a:avLst/>
          </a:prstGeom>
        </p:spPr>
      </p:pic>
      <p:pic>
        <p:nvPicPr>
          <p:cNvPr id="14" name="Obrázek 13" descr="Obsah obrázku pixel, snímek obrazovky, Grafika&#10;&#10;Obsah generovaný pomocí AI může být nesprávný.">
            <a:extLst>
              <a:ext uri="{FF2B5EF4-FFF2-40B4-BE49-F238E27FC236}">
                <a16:creationId xmlns:a16="http://schemas.microsoft.com/office/drawing/2014/main" id="{5F6CF8E4-949C-A557-8AE3-9F2382D74C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958" r="16388" b="7126"/>
          <a:stretch>
            <a:fillRect/>
          </a:stretch>
        </p:blipFill>
        <p:spPr>
          <a:xfrm>
            <a:off x="1930771" y="6160751"/>
            <a:ext cx="327212" cy="264288"/>
          </a:xfrm>
          <a:prstGeom prst="rect">
            <a:avLst/>
          </a:prstGeom>
        </p:spPr>
      </p:pic>
      <p:pic>
        <p:nvPicPr>
          <p:cNvPr id="15" name="Obrázek 14" descr="Obsah obrázku pixel, snímek obrazovky, Grafika&#10;&#10;Obsah generovaný pomocí AI může být nesprávný.">
            <a:extLst>
              <a:ext uri="{FF2B5EF4-FFF2-40B4-BE49-F238E27FC236}">
                <a16:creationId xmlns:a16="http://schemas.microsoft.com/office/drawing/2014/main" id="{5AEDD595-7DC2-80DC-FEE6-E2DF75C7901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958" r="16388" b="7126"/>
          <a:stretch>
            <a:fillRect/>
          </a:stretch>
        </p:blipFill>
        <p:spPr>
          <a:xfrm>
            <a:off x="1603560" y="6160751"/>
            <a:ext cx="327212" cy="264288"/>
          </a:xfrm>
          <a:prstGeom prst="rect">
            <a:avLst/>
          </a:prstGeom>
        </p:spPr>
      </p:pic>
      <p:pic>
        <p:nvPicPr>
          <p:cNvPr id="16" name="Obrázek 15" descr="Obsah obrázku pixel, snímek obrazovky, Grafika&#10;&#10;Obsah generovaný pomocí AI může být nesprávný.">
            <a:extLst>
              <a:ext uri="{FF2B5EF4-FFF2-40B4-BE49-F238E27FC236}">
                <a16:creationId xmlns:a16="http://schemas.microsoft.com/office/drawing/2014/main" id="{6ECAC982-61E6-8FAE-9F4C-0256CCB1B1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58" r="16388" b="7126"/>
          <a:stretch>
            <a:fillRect/>
          </a:stretch>
        </p:blipFill>
        <p:spPr>
          <a:xfrm>
            <a:off x="1276350" y="6160752"/>
            <a:ext cx="327211" cy="264287"/>
          </a:xfrm>
          <a:prstGeom prst="rect">
            <a:avLst/>
          </a:prstGeom>
        </p:spPr>
      </p:pic>
      <p:pic>
        <p:nvPicPr>
          <p:cNvPr id="17" name="Obrázek 16" descr="Obsah obrázku pixel, snímek obrazovky, Grafika&#10;&#10;Obsah generovaný pomocí AI může být nesprávný.">
            <a:extLst>
              <a:ext uri="{FF2B5EF4-FFF2-40B4-BE49-F238E27FC236}">
                <a16:creationId xmlns:a16="http://schemas.microsoft.com/office/drawing/2014/main" id="{2EC32BD5-00F7-53E7-490A-730D0435E2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encil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0958" r="16388" b="7126"/>
          <a:stretch>
            <a:fillRect/>
          </a:stretch>
        </p:blipFill>
        <p:spPr>
          <a:xfrm>
            <a:off x="2257982" y="6165940"/>
            <a:ext cx="327212" cy="264288"/>
          </a:xfrm>
          <a:prstGeom prst="rect">
            <a:avLst/>
          </a:prstGeom>
        </p:spPr>
      </p:pic>
      <p:pic>
        <p:nvPicPr>
          <p:cNvPr id="5130" name="Picture 10" descr="Image">
            <a:extLst>
              <a:ext uri="{FF2B5EF4-FFF2-40B4-BE49-F238E27FC236}">
                <a16:creationId xmlns:a16="http://schemas.microsoft.com/office/drawing/2014/main" id="{6041993D-F02C-873B-094D-64F037EE8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149" y="4189775"/>
            <a:ext cx="2943881" cy="210312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900101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B5F00-B5A9-500E-122D-B6D84DEF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0A1CD1-8EC9-6B36-6BEF-5BD3C7B1C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914" cy="686435"/>
          </a:xfrm>
        </p:spPr>
        <p:txBody>
          <a:bodyPr>
            <a:normAutofit/>
          </a:bodyPr>
          <a:lstStyle/>
          <a:p>
            <a:r>
              <a:rPr lang="cs-CZ" sz="2800" b="1" dirty="0">
                <a:latin typeface="Bahnschrift"/>
              </a:rPr>
              <a:t>7</a:t>
            </a:r>
            <a:r>
              <a:rPr lang="cs-CZ" sz="2800" b="1" noProof="0" dirty="0">
                <a:latin typeface="Bahnschrift"/>
              </a:rPr>
              <a:t>. </a:t>
            </a:r>
            <a:r>
              <a:rPr lang="cs-CZ" sz="2800" b="1" dirty="0">
                <a:latin typeface="Bahnschrift"/>
              </a:rPr>
              <a:t>LIDAR</a:t>
            </a:r>
            <a:endParaRPr lang="cs-CZ" sz="2800" b="1" noProof="0" dirty="0">
              <a:latin typeface="Bahnschrif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E291EC-4C46-3A65-306F-F5494EF41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5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/>
              <a:t>Jednoduchý prostorový "skener" na principu LIDAR</a:t>
            </a:r>
            <a:endParaRPr lang="cs-CZ" sz="2000" noProof="0" dirty="0"/>
          </a:p>
          <a:p>
            <a:r>
              <a:rPr lang="cs-CZ" sz="2000" noProof="0" dirty="0"/>
              <a:t>Hlavní funkce: </a:t>
            </a:r>
          </a:p>
          <a:p>
            <a:pPr>
              <a:buFontTx/>
              <a:buChar char="-"/>
            </a:pPr>
            <a:r>
              <a:rPr lang="cs-CZ" sz="2000" dirty="0"/>
              <a:t>Rotující laserový senzor </a:t>
            </a:r>
          </a:p>
          <a:p>
            <a:pPr>
              <a:buFontTx/>
              <a:buChar char="-"/>
            </a:pPr>
            <a:r>
              <a:rPr lang="cs-CZ" sz="2000" dirty="0"/>
              <a:t>Output dat v I2C formátů</a:t>
            </a:r>
          </a:p>
          <a:p>
            <a:pPr>
              <a:buFontTx/>
              <a:buChar char="-"/>
            </a:pPr>
            <a:r>
              <a:rPr lang="cs-CZ" sz="2000" dirty="0"/>
              <a:t>Vykreslení bodů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CD3A4224-9C8D-CA67-49CD-506986801A18}"/>
              </a:ext>
            </a:extLst>
          </p:cNvPr>
          <p:cNvSpPr txBox="1"/>
          <p:nvPr/>
        </p:nvSpPr>
        <p:spPr>
          <a:xfrm>
            <a:off x="11738114" y="8241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cs-CZ" noProof="0" dirty="0">
              <a:latin typeface="Bahnschrift" panose="020B0502040204020203" pitchFamily="34" charset="0"/>
            </a:endParaRPr>
          </a:p>
        </p:txBody>
      </p:sp>
      <p:sp>
        <p:nvSpPr>
          <p:cNvPr id="23" name="TextovéPole 22">
            <a:extLst>
              <a:ext uri="{FF2B5EF4-FFF2-40B4-BE49-F238E27FC236}">
                <a16:creationId xmlns:a16="http://schemas.microsoft.com/office/drawing/2014/main" id="{29B08011-BEAE-CF3F-F167-FF90757FCD43}"/>
              </a:ext>
            </a:extLst>
          </p:cNvPr>
          <p:cNvSpPr txBox="1"/>
          <p:nvPr/>
        </p:nvSpPr>
        <p:spPr>
          <a:xfrm>
            <a:off x="838200" y="5744936"/>
            <a:ext cx="2135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noProof="0" dirty="0"/>
              <a:t>Obtížnost:</a:t>
            </a:r>
          </a:p>
        </p:txBody>
      </p:sp>
      <p:pic>
        <p:nvPicPr>
          <p:cNvPr id="4" name="Picture 3" descr="klasifikace: Vývojová sada for LiDAR_LD06, pro použití s: Raspberry Pi SBC  Lidar Module with Bracket 54.010012, Okdo">
            <a:extLst>
              <a:ext uri="{FF2B5EF4-FFF2-40B4-BE49-F238E27FC236}">
                <a16:creationId xmlns:a16="http://schemas.microsoft.com/office/drawing/2014/main" id="{6537F7EA-6E4A-DDB3-DB25-9B7CFE0C9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5556" y="451555"/>
            <a:ext cx="4684890" cy="2631724"/>
          </a:xfrm>
          <a:prstGeom prst="rect">
            <a:avLst/>
          </a:prstGeom>
        </p:spPr>
      </p:pic>
      <p:pic>
        <p:nvPicPr>
          <p:cNvPr id="9" name="Obrázek 5">
            <a:extLst>
              <a:ext uri="{FF2B5EF4-FFF2-40B4-BE49-F238E27FC236}">
                <a16:creationId xmlns:a16="http://schemas.microsoft.com/office/drawing/2014/main" id="{005A4F5B-BE2E-42D0-C995-89977A4854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480" y="6188075"/>
            <a:ext cx="304800" cy="304800"/>
          </a:xfrm>
          <a:prstGeom prst="rect">
            <a:avLst/>
          </a:prstGeom>
        </p:spPr>
      </p:pic>
      <p:pic>
        <p:nvPicPr>
          <p:cNvPr id="11" name="Obrázek 6">
            <a:extLst>
              <a:ext uri="{FF2B5EF4-FFF2-40B4-BE49-F238E27FC236}">
                <a16:creationId xmlns:a16="http://schemas.microsoft.com/office/drawing/2014/main" id="{19E98230-7F2D-CF3D-E028-7052E0376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8" y="6188075"/>
            <a:ext cx="304800" cy="304800"/>
          </a:xfrm>
          <a:prstGeom prst="rect">
            <a:avLst/>
          </a:prstGeom>
        </p:spPr>
      </p:pic>
      <p:pic>
        <p:nvPicPr>
          <p:cNvPr id="18" name="Obrázek 7">
            <a:extLst>
              <a:ext uri="{FF2B5EF4-FFF2-40B4-BE49-F238E27FC236}">
                <a16:creationId xmlns:a16="http://schemas.microsoft.com/office/drawing/2014/main" id="{AE0E4B82-FDC3-30E7-3B7F-9646FA1AA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004" y="6188075"/>
            <a:ext cx="304800" cy="304800"/>
          </a:xfrm>
          <a:prstGeom prst="rect">
            <a:avLst/>
          </a:prstGeom>
        </p:spPr>
      </p:pic>
      <p:pic>
        <p:nvPicPr>
          <p:cNvPr id="20" name="Obrázek 8">
            <a:extLst>
              <a:ext uri="{FF2B5EF4-FFF2-40B4-BE49-F238E27FC236}">
                <a16:creationId xmlns:a16="http://schemas.microsoft.com/office/drawing/2014/main" id="{51F79B0B-75FA-BFDB-6EC2-B4286D6F75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266" y="6188075"/>
            <a:ext cx="304800" cy="304800"/>
          </a:xfrm>
          <a:prstGeom prst="rect">
            <a:avLst/>
          </a:prstGeom>
        </p:spPr>
      </p:pic>
      <p:pic>
        <p:nvPicPr>
          <p:cNvPr id="21" name="Obrázek 7">
            <a:extLst>
              <a:ext uri="{FF2B5EF4-FFF2-40B4-BE49-F238E27FC236}">
                <a16:creationId xmlns:a16="http://schemas.microsoft.com/office/drawing/2014/main" id="{300FE2B2-A102-F39E-3F82-457EEC531C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660" y="6188074"/>
            <a:ext cx="304800" cy="304800"/>
          </a:xfrm>
          <a:prstGeom prst="rect">
            <a:avLst/>
          </a:prstGeom>
        </p:spPr>
      </p:pic>
      <p:pic>
        <p:nvPicPr>
          <p:cNvPr id="22" name="Picture 21" descr="TF-Luna ToF LiDAR Module - 8 Meters Distance Sensor">
            <a:extLst>
              <a:ext uri="{FF2B5EF4-FFF2-40B4-BE49-F238E27FC236}">
                <a16:creationId xmlns:a16="http://schemas.microsoft.com/office/drawing/2014/main" id="{F60C7546-0026-5803-CF36-EB82D0B64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445" y="3400778"/>
            <a:ext cx="5609167" cy="315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80894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a7c0b2-3957-4ee6-848f-03628eecaa2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12" ma:contentTypeDescription="Vytvoří nový dokument" ma:contentTypeScope="" ma:versionID="888996ad8978cf62e8e46d9887be6a3d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38c968d1977a914dc95045218291605b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552F1C-7966-455F-8874-F8154CF790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19B209-3B7C-4562-890E-C2B0F0505A6D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30a7c0b2-3957-4ee6-848f-03628eecaa28"/>
    <ds:schemaRef ds:uri="http://schemas.microsoft.com/office/infopath/2007/PartnerControls"/>
    <ds:schemaRef ds:uri="http://www.w3.org/XML/1998/namespace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E05BEC0-A166-47F6-AE78-BF9704FB4B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346</Words>
  <Application>Microsoft Office PowerPoint</Application>
  <PresentationFormat>Širokoúhlá obrazovka</PresentationFormat>
  <Paragraphs>65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Bahnschrift</vt:lpstr>
      <vt:lpstr>Bierstadt</vt:lpstr>
      <vt:lpstr>Bierstadt Display</vt:lpstr>
      <vt:lpstr>Motiv Office</vt:lpstr>
      <vt:lpstr>Prezentace aplikace PowerPoint</vt:lpstr>
      <vt:lpstr>SEZNAM NÁVRHŮ</vt:lpstr>
      <vt:lpstr>1. FINCA - Flight Integration and Navigation Control Architecture</vt:lpstr>
      <vt:lpstr>2. GPS Tracker</vt:lpstr>
      <vt:lpstr>3. Bearing pointer – Bound compasses</vt:lpstr>
      <vt:lpstr>4. Pivní kompas - Desire Compass</vt:lpstr>
      <vt:lpstr>5. SPGA / SPG</vt:lpstr>
      <vt:lpstr>6. Protogen visor</vt:lpstr>
      <vt:lpstr>7. LIDAR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PARS</dc:title>
  <dc:creator>Popov Savva</dc:creator>
  <cp:lastModifiedBy>Popov Savva</cp:lastModifiedBy>
  <cp:revision>67</cp:revision>
  <dcterms:created xsi:type="dcterms:W3CDTF">2025-03-03T21:15:47Z</dcterms:created>
  <dcterms:modified xsi:type="dcterms:W3CDTF">2025-11-06T17:40:45Z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